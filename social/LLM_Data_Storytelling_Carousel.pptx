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eef76cabd54633" /><Relationship Type="http://schemas.openxmlformats.org/officeDocument/2006/relationships/extended-properties" Target="/docProps/app.xml" Id="R2e010f2f4d6c4b09" /><Relationship Type="http://schemas.openxmlformats.org/officeDocument/2006/relationships/officeDocument" Target="/ppt/presentation.xml" Id="Red38059f283c49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345c7303df487e"/>
  </p:sldMasterIdLst>
  <p:notesMasterIdLst>
    <p:notesMasterId xmlns:r="http://schemas.openxmlformats.org/officeDocument/2006/relationships" r:id="R914e621deb014630"/>
  </p:notesMasterIdLst>
  <p:sldIdLst>
    <p:sldId xmlns:r="http://schemas.openxmlformats.org/officeDocument/2006/relationships" id="256" r:id="R5a26714c3e2c46f9"/>
    <p:sldId xmlns:r="http://schemas.openxmlformats.org/officeDocument/2006/relationships" id="257" r:id="R9b2f525f82924661"/>
    <p:sldId xmlns:r="http://schemas.openxmlformats.org/officeDocument/2006/relationships" id="258" r:id="R8e5097ddb8d44e75"/>
    <p:sldId xmlns:r="http://schemas.openxmlformats.org/officeDocument/2006/relationships" id="259" r:id="Rf987c61a81c6488c"/>
    <p:sldId xmlns:r="http://schemas.openxmlformats.org/officeDocument/2006/relationships" id="260" r:id="Red6c161437b4435d"/>
    <p:sldId xmlns:r="http://schemas.openxmlformats.org/officeDocument/2006/relationships" id="261" r:id="Raa24aa1018664dbc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2d08ae62e744ea" /><Relationship Type="http://schemas.openxmlformats.org/officeDocument/2006/relationships/slideMaster" Target="/ppt/slideMasters/slideMaster1.xml" Id="R00345c7303df487e" /><Relationship Type="http://schemas.openxmlformats.org/officeDocument/2006/relationships/notesMaster" Target="/ppt/notesMasters/notesMaster1.xml" Id="R914e621deb014630" /><Relationship Type="http://schemas.openxmlformats.org/officeDocument/2006/relationships/presProps" Target="/ppt/presProps.xml" Id="R5cbe7cb048314ba3" /><Relationship Type="http://schemas.openxmlformats.org/officeDocument/2006/relationships/tableStyles" Target="/ppt/tableStyles.xml" Id="Rf09532b0638749fc" /><Relationship Type="http://schemas.openxmlformats.org/officeDocument/2006/relationships/slide" Target="/ppt/slides/slide1.xml" Id="R5a26714c3e2c46f9" /><Relationship Type="http://schemas.openxmlformats.org/officeDocument/2006/relationships/slide" Target="/ppt/slides/slide2.xml" Id="R9b2f525f82924661" /><Relationship Type="http://schemas.openxmlformats.org/officeDocument/2006/relationships/slide" Target="/ppt/slides/slide3.xml" Id="R8e5097ddb8d44e75" /><Relationship Type="http://schemas.openxmlformats.org/officeDocument/2006/relationships/slide" Target="/ppt/slides/slide4.xml" Id="Rf987c61a81c6488c" /><Relationship Type="http://schemas.openxmlformats.org/officeDocument/2006/relationships/slide" Target="/ppt/slides/slide5.xml" Id="Red6c161437b4435d" /><Relationship Type="http://schemas.openxmlformats.org/officeDocument/2006/relationships/slide" Target="/ppt/slides/slide6.xml" Id="Raa24aa1018664d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bb0d56ec074c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7136" dir="4721404">
              <a:srgbClr val="11162B">
                <a:alpha val="14000"/>
              </a:srgbClr>
            </a:outerShdw>
          </a:effectLst>
        </a:effectStyle>
        <a:effectStyle>
          <a:effectLst>
            <a:outerShdw blurRad="190500" dist="78545" dir="4557825">
              <a:srgbClr val="11162B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d5db554c994047" /><Relationship Type="http://schemas.openxmlformats.org/officeDocument/2006/relationships/notesMaster" Target="/ppt/notesMasters/notesMaster1.xml" Id="R83b8f1289ca943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b329da65b94b8a" /><Relationship Type="http://schemas.openxmlformats.org/officeDocument/2006/relationships/notesMaster" Target="/ppt/notesMasters/notesMaster1.xml" Id="Rf10a51e4d3da49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f6572fe4914ea7" /><Relationship Type="http://schemas.openxmlformats.org/officeDocument/2006/relationships/notesMaster" Target="/ppt/notesMasters/notesMaster1.xml" Id="Re9bd1976c33148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f44207ed264826" /><Relationship Type="http://schemas.openxmlformats.org/officeDocument/2006/relationships/notesMaster" Target="/ppt/notesMasters/notesMaster1.xml" Id="R40ebd6739dee4f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82b1fdaa30470b" /><Relationship Type="http://schemas.openxmlformats.org/officeDocument/2006/relationships/notesMaster" Target="/ppt/notesMasters/notesMaster1.xml" Id="Rdd489719480e43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de3a0717bb467f" /><Relationship Type="http://schemas.openxmlformats.org/officeDocument/2006/relationships/notesMaster" Target="/ppt/notesMasters/notesMaster1.xml" Id="Rc36e1ecce9ea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chart uses illustrative values from the sample prompt in the supplied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values from the sample prompt in the supplied notebook. They are not presented as audited financial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dc7da822346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09ee6dfdf14891" /><Relationship Type="http://schemas.openxmlformats.org/officeDocument/2006/relationships/slideLayout" Target="/ppt/slideLayouts/slideLayout1.xml" Id="R11ad291194a84a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ad291194a84a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7136" dir="4721404">
              <a:srgbClr val="11162B">
                <a:alpha val="14000"/>
              </a:srgbClr>
            </a:outerShdw>
          </a:effectLst>
        </a:effectStyle>
        <a:effectStyle>
          <a:effectLst>
            <a:outerShdw blurRad="190500" dist="78545" dir="4557825">
              <a:srgbClr val="11162B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32c912c184e3d" /><Relationship Type="http://schemas.openxmlformats.org/officeDocument/2006/relationships/chart" Target="/ppt/slides/charts/chart1.xml" Id="R51f23ed2762446aa" /><Relationship Type="http://schemas.openxmlformats.org/officeDocument/2006/relationships/notesSlide" Target="/ppt/notesSlides/notesSlide1.xml" Id="R253a7d2c6e0d4e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5de8653a646ce" /><Relationship Type="http://schemas.openxmlformats.org/officeDocument/2006/relationships/notesSlide" Target="/ppt/notesSlides/notesSlide2.xml" Id="R5e8d4e6de22845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6edddff6b47af" /><Relationship Type="http://schemas.openxmlformats.org/officeDocument/2006/relationships/notesSlide" Target="/ppt/notesSlides/notesSlide3.xml" Id="R4dd32fb1e0c143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1c783a45e47ef" /><Relationship Type="http://schemas.openxmlformats.org/officeDocument/2006/relationships/chart" Target="/ppt/slides/charts/chart2.xml" Id="R5318eaac812a4003" /><Relationship Type="http://schemas.openxmlformats.org/officeDocument/2006/relationships/notesSlide" Target="/ppt/notesSlides/notesSlide4.xml" Id="Re5c1a233240547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7f0b0f6934cb4" /><Relationship Type="http://schemas.openxmlformats.org/officeDocument/2006/relationships/notesSlide" Target="/ppt/notesSlides/notesSlide5.xml" Id="R672ad6c3251c4d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ac0ee7263481f" /><Relationship Type="http://schemas.openxmlformats.org/officeDocument/2006/relationships/notesSlide" Target="/ppt/notesSlides/notesSlide6.xml" Id="R588904c9d1004c5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657E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3BDD2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2D7A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4C95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E83F2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Search ads</c:v>
                </c:pt>
                <c:pt idx="1">
                  <c:v>Cloud</c:v>
                </c:pt>
                <c:pt idx="2">
                  <c:v>YouTube</c:v>
                </c:pt>
                <c:pt idx="3">
                  <c:v>AI investment</c:v>
                </c:pt>
              </c:strCache>
            </c:strRef>
          </c:cat>
          <c:val>
            <c:numRef>
              <c:f>'Chart Data'!$B$2:$B$5</c:f>
              <c:numCache>
                <c:formatCode>$0.0"B"</c:formatCode>
                <c:ptCount val="4"/>
                <c:pt idx="0">
                  <c:v>42.8</c:v>
                </c:pt>
                <c:pt idx="1">
                  <c:v>9.2</c:v>
                </c:pt>
                <c:pt idx="2">
                  <c:v>8.4</c:v>
                </c:pt>
                <c:pt idx="3">
                  <c:v>3.5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FFFFF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0C123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solidFill>
            <a:srgbClr val="0C1230"/>
          </a:solidFill>
          <a:prstDash val="solid"/>
        </a:ln>
      </c:spPr>
    </c:plotArea>
    <c:plotVisOnly val="1"/>
  </c:chart>
  <c:spPr>
    <a:ln xmlns:a="http://schemas.openxmlformats.org/drawingml/2006/main" w="0">
      <a:solidFill>
        <a:srgbClr val="0C1230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Value in USD billions</c:v>
          </c:tx>
          <c:spPr>
            <a:solidFill xmlns:a="http://schemas.openxmlformats.org/drawingml/2006/main">
              <a:srgbClr val="6657E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657E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3BDD2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DC69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4C95D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Search ads</c:v>
                </c:pt>
                <c:pt idx="1">
                  <c:v>Cloud revenue</c:v>
                </c:pt>
                <c:pt idx="2">
                  <c:v>YouTube ads</c:v>
                </c:pt>
                <c:pt idx="3">
                  <c:v>AI investment</c:v>
                </c:pt>
              </c:strCache>
            </c:strRef>
          </c:cat>
          <c:val>
            <c:numRef>
              <c:f>'Chart Data'!$B$2:$B$5</c:f>
              <c:numCache>
                <c:formatCode>$0.0"B"</c:formatCode>
                <c:ptCount val="4"/>
                <c:pt idx="0">
                  <c:v>42.8</c:v>
                </c:pt>
                <c:pt idx="1">
                  <c:v>9.2</c:v>
                </c:pt>
                <c:pt idx="2">
                  <c:v>8.4</c:v>
                </c:pt>
                <c:pt idx="3">
                  <c:v>3.5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1162B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C"/>
              </a:solidFill>
              <a:prstDash val="solid"/>
            </a:ln>
          </c:spPr>
        </c:majorGridlines>
        <c:numFmt formatCode="$0&quot;B&quot;"/>
        <c:majorTickMark val="none"/>
        <c:minorTickMark val="none"/>
        <c:spPr>
          <a:ln xmlns:a="http://schemas.openxmlformats.org/drawingml/2006/main" w="9525">
            <a:solidFill>
              <a:srgbClr val="DDE1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5F6F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solidFill>
            <a:srgbClr val="F5F6FB"/>
          </a:solidFill>
          <a:prstDash val="solid"/>
        </a:ln>
      </c:spPr>
    </c:plotArea>
    <c:plotVisOnly val="1"/>
  </c:chart>
  <c:spPr>
    <a:ln xmlns:a="http://schemas.openxmlformats.org/drawingml/2006/main" w="0">
      <a:solidFill>
        <a:srgbClr val="F5F6FB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2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FAC32-B380-45C4-AE1B-B9A5E80B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B5064-5DB1-437A-A90F-551768D7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3BDD2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3BDD2"/>
                </a:solidFill>
                <a:latin typeface="Nimbus Sans"/>
                <a:ea typeface="Nimbus Sans"/>
                <a:cs typeface="Nimbus Sans"/>
              </a:rPr>
              <a:t>A SIDE PROJECT BY AMAN ANAND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E4E36-2706-47B9-B60E-8BD7C85B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857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57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 built a prompt-to-chart AI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D35A4-A56C-4CF2-A02D-9F7BFE30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819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>
                <a:solidFill>
                  <a:srgbClr val="C7CEE5"/>
                </a:solidFill>
                <a:latin typeface="Nimbus Sans"/>
                <a:ea typeface="Nimbus Sans"/>
                <a:cs typeface="Nimbus Sans"/>
              </a:defRPr>
            </a:pPr>
            <a:r>
              <a:rPr sz="2400">
                <a:solidFill>
                  <a:srgbClr val="C7CEE5"/>
                </a:solidFill>
                <a:latin typeface="Nimbus Sans"/>
                <a:ea typeface="Nimbus Sans"/>
                <a:cs typeface="Nimbus Sans"/>
              </a:rPr>
              <a:t>A short business update becomes structured data, a chart, and a simple explanation.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81050" y="5676900"/>
          <a:ext xmlns:a="http://schemas.openxmlformats.org/drawingml/2006/main" cx="8572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f23ed2762446a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1E1A7-1280-4D38-8863-B7568E39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7732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98B7"/>
                </a:solidFill>
                <a:latin typeface="Nimbus Sans"/>
                <a:ea typeface="Nimbus Sans"/>
                <a:cs typeface="Nimbus Sans"/>
              </a:defRPr>
            </a:pPr>
            <a:r>
              <a:rPr sz="1275">
                <a:solidFill>
                  <a:srgbClr val="8E98B7"/>
                </a:solidFill>
                <a:latin typeface="Nimbus Sans"/>
                <a:ea typeface="Nimbus Sans"/>
                <a:cs typeface="Nimbus Sans"/>
              </a:rPr>
              <a:t>Illustrative values from the notebook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F2A87-5C31-4EF0-B1C6-3D029871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96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EB8D5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AEB8D5"/>
                </a:solidFill>
                <a:latin typeface="Nimbus Sans"/>
                <a:ea typeface="Nimbus Sans"/>
                <a:cs typeface="Nimbus Sans"/>
              </a:rPr>
              <a:t>Prompt-to-Visual Storytelling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DFEF8-97CE-425F-BE8A-85C78FFB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964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AEB8D5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AEB8D5"/>
                </a:solidFill>
                <a:latin typeface="Nimbus Sans"/>
                <a:ea typeface="Nimbus Sans"/>
                <a:cs typeface="Nimbus Sans"/>
              </a:rPr>
              <a:t>1 / 6</a:t>
            </a:r>
          </a:p>
        </p:txBody>
      </p:sp>
    </p:spTree>
    <p:extLst>
      <p:ext uri="{BB962C8B-B14F-4D97-AF65-F5344CB8AC3E}">
        <p14:creationId xmlns:p14="http://schemas.microsoft.com/office/powerpoint/2010/main" val="1145658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724EE3-E213-4CAE-B666-3D9CA9E6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One paragraph, three useful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14396-6C8D-4C67-A89A-504C96FB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875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The user writes normally. The pipeline handles the structure.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1EA81-07BD-420B-9A4A-E247CA42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095750" cy="647700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382D8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C5419-B867-433E-87AC-62827496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3BDD2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23BDD2"/>
                </a:solidFill>
                <a:latin typeface="Nimbus Sans"/>
                <a:ea typeface="Nimbus Sans"/>
                <a:cs typeface="Nimbus Sans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E1A9E-44E6-47F5-9FA9-6442256B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32194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325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Google Q2 2024 earnings: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325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Search ads: $42.8B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325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Cloud revenue: $9.2B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325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YouTube ads: $8.4B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325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AI investment: $3.5B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9C26C-F294-40C4-9D59-E05B80C4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03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7CEE5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C7CEE5"/>
                </a:solidFill>
                <a:latin typeface="Nimbus Sans"/>
                <a:ea typeface="Nimbus Sans"/>
                <a:cs typeface="Nimbus Sans"/>
              </a:rPr>
              <a:t>Plain 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5E806-3498-4A35-9589-0D022F09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819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6657E8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6657E8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F41BB-475D-4F9F-A427-7BBAD0CE6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03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Structured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27E79-9835-4AEE-A950-208DD957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725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Names, values, periods, changes, and units in JSON.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53ACA-D60E-4145-A4C6-2CFED96C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434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3A0B0-2291-4932-9E99-BCA9EA00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86300"/>
            <a:ext cx="819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BDD2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23BDD2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CDE26-9C87-4053-A317-AD2DD07A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958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Visualization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9E399-C704-42A9-B4C7-4F8E6670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768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725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A clean Plotly chart built from the validated values.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80494-B1BC-4D16-856B-D372981D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4389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52A4F-67F7-40C5-837D-C8E96DA0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781800"/>
            <a:ext cx="819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EA97A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EA97A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E339C-C538-4EC7-A18F-742E554E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7913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Simple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E1EEE-D52D-4272-AD87-07A66FA1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37235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725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725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A short explanation that uses the extracted facts.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BE9B2-6E19-44D5-ACBD-DA785127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96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Prompt-to-Visual Storytelling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09F2D-EC8B-43D5-A799-6688C98C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964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2 / 6</a:t>
            </a:r>
          </a:p>
        </p:txBody>
      </p:sp>
    </p:spTree>
    <p:extLst>
      <p:ext uri="{BB962C8B-B14F-4D97-AF65-F5344CB8AC3E}">
        <p14:creationId xmlns:p14="http://schemas.microsoft.com/office/powerpoint/2010/main" val="12571124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2DC4A-90E2-4901-92A8-5052EAFE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91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8EA22-C9E1-4E66-BA4B-70D9903F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75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875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The LLM handles language. Python checks the output and creates the chart.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8E759-3797-4306-A24A-386F4F4C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28575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Plain-text prompt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126E0-F8B6-48D8-9079-73AB23D5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2857500" cy="1009650"/>
          </a:xfrm>
          <a:prstGeom xmlns:a="http://schemas.openxmlformats.org/drawingml/2006/main" prst="roundRect">
            <a:avLst>
              <a:gd name="adj" fmla="val 20755"/>
            </a:avLst>
          </a:prstGeom>
          <a:solidFill xmlns:a="http://schemas.openxmlformats.org/drawingml/2006/main">
            <a:srgbClr val="6657E8"/>
          </a:solidFill>
          <a:ln xmlns:a="http://schemas.openxmlformats.org/drawingml/2006/main" w="9525">
            <a:solidFill>
              <a:srgbClr val="FFFFFF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Llama 2 7B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4-bit inference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C3A1D-8BCA-4ABA-A4DD-F92CEA1F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28575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Structured 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D4A3E-8882-47D5-8EB6-471960E5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705600"/>
            <a:ext cx="30480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FFFFFF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Pandas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76D14-3A7A-4A65-A0DB-47187D4B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705600"/>
            <a:ext cx="30480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4FF"/>
          </a:solidFill>
          <a:ln xmlns:a="http://schemas.openxmlformats.org/drawingml/2006/main" w="9525">
            <a:solidFill>
              <a:srgbClr val="FFFFFF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Story 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63814-C773-4578-B01D-1A962D1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286750"/>
            <a:ext cx="30480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3BDD2"/>
          </a:solidFill>
          <a:ln xmlns:a="http://schemas.openxmlformats.org/drawingml/2006/main" w="9525">
            <a:solidFill>
              <a:srgbClr val="FFFFFF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C1230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0C1230"/>
                </a:solidFill>
                <a:latin typeface="Nimbus Sans"/>
                <a:ea typeface="Nimbus Sans"/>
                <a:cs typeface="Nimbus Sans"/>
              </a:rPr>
              <a:t>Plotly chart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9A1C9B-EB56-4BD5-A5D2-D1BE388C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8286750"/>
            <a:ext cx="30480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C95D"/>
          </a:solidFill>
          <a:ln xmlns:a="http://schemas.openxmlformats.org/drawingml/2006/main" w="9525">
            <a:solidFill>
              <a:srgbClr val="FFFFFF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lIns="152400" tIns="114300" rIns="152400" bIns="114300" anchor="ctr">
            <a:normAutofit fontScale="9949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C1230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0C1230"/>
                </a:solidFill>
                <a:latin typeface="Nimbus Sans"/>
                <a:ea typeface="Nimbus Sans"/>
                <a:cs typeface="Nimbus Sans"/>
              </a:rPr>
              <a:t>Plain-English summary</a:t>
            </a:r>
          </a:p>
        </p:txBody>
      </p:sp>
      <p:cxnSp>
        <p:nvCxnSpPr>
          <p:cNvPr id="27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5143500" y="31242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657E8"/>
            </a:solidFill>
            <a:prstDash val="solid"/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143500" y="462915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657E8"/>
            </a:solidFill>
            <a:prstDash val="solid"/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647950" y="6029325"/>
            <a:ext cx="2495550" cy="676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6657E8"/>
            </a:solidFill>
            <a:prstDash val="solid"/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5143500" y="6029325"/>
            <a:ext cx="2495550" cy="676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6657E8"/>
            </a:solidFill>
            <a:prstDash val="solid"/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647950" y="75438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657E8"/>
            </a:solidFill>
            <a:prstDash val="solid"/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639050" y="75438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657E8"/>
            </a:solidFill>
            <a:prstDash val="solid"/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BA669-CC03-4065-985E-8B8BDC47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96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Prompt-to-Visual Storytelling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2C27C7-CF55-47D7-947F-C4B7F21C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964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3 / 6</a:t>
            </a:r>
          </a:p>
        </p:txBody>
      </p:sp>
    </p:spTree>
    <p:extLst>
      <p:ext uri="{BB962C8B-B14F-4D97-AF65-F5344CB8AC3E}">
        <p14:creationId xmlns:p14="http://schemas.microsoft.com/office/powerpoint/2010/main" val="1802656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3A6B5-B438-4CD5-A2BC-4AB0C907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91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Example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455DB-4BF7-4173-A7E1-0B7D5408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75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875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The chart compares values that share the same unit.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8858250" cy="581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18eaac812a400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7ACD6-2414-4D41-A8DB-4983B336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24850"/>
            <a:ext cx="885825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8E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9E181-CBD8-4D94-B152-1CD65A09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5725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82D8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382D8F"/>
                </a:solidFill>
                <a:latin typeface="Nimbus Sans"/>
                <a:ea typeface="Nimbus Sans"/>
                <a:cs typeface="Nimbus Sans"/>
              </a:rPr>
              <a:t>Search ads is the largest value in this demonstration input.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3E1FB-79B8-4A4F-A987-6BC488EF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96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Illustrative notebook data. Values are not audited.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EDFEC-0321-468A-B9AE-73C63995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964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4 / 6</a:t>
            </a:r>
          </a:p>
        </p:txBody>
      </p:sp>
    </p:spTree>
    <p:extLst>
      <p:ext uri="{BB962C8B-B14F-4D97-AF65-F5344CB8AC3E}">
        <p14:creationId xmlns:p14="http://schemas.microsoft.com/office/powerpoint/2010/main" val="13682790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EC3B5-CEFC-448F-9199-B4EBBA4B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891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Four lessons from the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93510-BB04-4727-9E9D-33F3245C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75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875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A good chart depends on more than a good prompt.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12303-E7CB-4636-8C4A-B46EFE29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6657E8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6657E8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C46EA-C919-46F6-A910-E448AC07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8600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Format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57E7F-194C-489D-AD79-1FD140D0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670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A fixed JSON schema gives the chart predictable input.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940FC-0E8A-4646-A44D-E4C6FD96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882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F9277-2205-4829-8F30-8EC8008C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3BDD2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23BDD2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1DC2F-3C2F-4B5E-B917-73FA058B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4812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F5259-4EA2-4994-B197-666F9565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291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Code should check periods, magnitudes, missing values, and units.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BD9B4-9C68-49D5-9E97-1BF10DD8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882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C6453-5716-4C61-B1B0-EB201A1D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EA97A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1EA97A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A71B3-B27E-49EF-A306-94717DFD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102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Comparable units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E532F-4B95-4B45-A704-6E6E0C19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39127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Dollar values and percentages need separate chart axes.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46AD1-B063-40EF-A18C-6C9963F0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19950"/>
            <a:ext cx="882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9B49A0-C5C6-4D3D-AE42-C08B8DB4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533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D39B14"/>
                </a:solidFill>
                <a:latin typeface="Nimbus Sans"/>
                <a:ea typeface="Nimbus Sans"/>
                <a:cs typeface="Nimbus Sans"/>
              </a:defRPr>
            </a:pPr>
            <a:r>
              <a:rPr sz="3750" b="1">
                <a:solidFill>
                  <a:srgbClr val="D39B14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2D535-32B4-4A6B-B815-DFE778A7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57237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62B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1162B"/>
                </a:solidFill>
                <a:latin typeface="Nimbus Sans"/>
                <a:ea typeface="Nimbus Sans"/>
                <a:cs typeface="Nimbus Sans"/>
              </a:rPr>
              <a:t>Human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BFF07-CD73-4E29-A6D1-7EAF8F4C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153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The original source remains the final authority.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833E6-5C67-4FFB-8134-61BCA1AC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96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Prompt-to-Visual Storytelling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EB1AF-5B8F-446F-A9D5-5F3E0069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964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47A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5D647A"/>
                </a:solidFill>
                <a:latin typeface="Nimbus Sans"/>
                <a:ea typeface="Nimbus Sans"/>
                <a:cs typeface="Nimbus Sans"/>
              </a:rPr>
              <a:t>5 / 6</a:t>
            </a:r>
          </a:p>
        </p:txBody>
      </p:sp>
    </p:spTree>
    <p:extLst>
      <p:ext uri="{BB962C8B-B14F-4D97-AF65-F5344CB8AC3E}">
        <p14:creationId xmlns:p14="http://schemas.microsoft.com/office/powerpoint/2010/main" val="209383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2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184E6-992B-40CD-9412-8CD7A2AE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91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The next version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CDD8F-81D3-4171-B059-828309E4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B8C1DD"/>
                </a:solidFill>
                <a:latin typeface="Nimbus Sans"/>
                <a:ea typeface="Nimbus Sans"/>
                <a:cs typeface="Nimbus Sans"/>
              </a:defRPr>
            </a:pPr>
            <a:r>
              <a:rPr sz="1875">
                <a:solidFill>
                  <a:srgbClr val="B8C1DD"/>
                </a:solidFill>
                <a:latin typeface="Nimbus Sans"/>
                <a:ea typeface="Nimbus Sans"/>
                <a:cs typeface="Nimbus Sans"/>
              </a:rPr>
              <a:t>The notebook proves the basic flow. These additions would make it easier to use and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02F2B-BAA7-4BBD-9329-0D539C1E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14650"/>
            <a:ext cx="762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2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F52C2-BDD3-4368-B046-5726F311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C1230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0C1230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57C62-507C-44CF-B33D-B2665DA7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098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File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296B6-209C-46F5-9195-442DA1FD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670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1DD"/>
                </a:solidFill>
                <a:latin typeface="Nimbus Sans"/>
                <a:ea typeface="Nimbus Sans"/>
                <a:cs typeface="Nimbus Sans"/>
              </a:defRPr>
            </a:pPr>
            <a:r>
              <a:rPr sz="1725">
                <a:solidFill>
                  <a:srgbClr val="B8C1DD"/>
                </a:solidFill>
                <a:latin typeface="Nimbus Sans"/>
                <a:ea typeface="Nimbus Sans"/>
                <a:cs typeface="Nimbus Sans"/>
              </a:rPr>
              <a:t>Read CSV, Excel, and PDF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2E245-7907-4C4A-B5CE-3003F03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BD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C1230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0C1230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10807-8674-4CD4-8143-1D6782B0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671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Chart choice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D871F-5124-42DC-9AEE-552B8D14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243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1DD"/>
                </a:solidFill>
                <a:latin typeface="Nimbus Sans"/>
                <a:ea typeface="Nimbus Sans"/>
                <a:cs typeface="Nimbus Sans"/>
              </a:defRPr>
            </a:pPr>
            <a:r>
              <a:rPr sz="1725">
                <a:solidFill>
                  <a:srgbClr val="B8C1DD"/>
                </a:solidFill>
                <a:latin typeface="Nimbus Sans"/>
                <a:ea typeface="Nimbus Sans"/>
                <a:cs typeface="Nimbus Sans"/>
              </a:rPr>
              <a:t>Match the chart to the data 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5D65E-67D9-4A3B-9AB5-C34CFF22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7A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C1230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0C1230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A81E6-71DA-4FDC-A3A1-72EECFB0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244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Simple 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E7A86-A556-4F5A-AEDF-1D9144CE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816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1DD"/>
                </a:solidFill>
                <a:latin typeface="Nimbus Sans"/>
                <a:ea typeface="Nimbus Sans"/>
                <a:cs typeface="Nimbus Sans"/>
              </a:defRPr>
            </a:pPr>
            <a:r>
              <a:rPr sz="1725">
                <a:solidFill>
                  <a:srgbClr val="B8C1DD"/>
                </a:solidFill>
                <a:latin typeface="Nimbus Sans"/>
                <a:ea typeface="Nimbus Sans"/>
                <a:cs typeface="Nimbus Sans"/>
              </a:rPr>
              <a:t>Add a Streamlit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C1A02-3555-42C4-8337-D0E428CF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008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C1230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0C1230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F37C1-3239-4CE6-BE97-54CF40FF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3817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7A83C-C757-48B5-88A6-2CA651EE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8389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1DD"/>
                </a:solidFill>
                <a:latin typeface="Nimbus Sans"/>
                <a:ea typeface="Nimbus Sans"/>
                <a:cs typeface="Nimbus Sans"/>
              </a:defRPr>
            </a:pPr>
            <a:r>
              <a:rPr sz="1725">
                <a:solidFill>
                  <a:srgbClr val="B8C1DD"/>
                </a:solidFill>
                <a:latin typeface="Nimbus Sans"/>
                <a:ea typeface="Nimbus Sans"/>
                <a:cs typeface="Nimbus Sans"/>
              </a:rPr>
              <a:t>Measure extraction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89B55-B5D8-493B-A7EB-C10FA261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48600"/>
            <a:ext cx="8953500" cy="1352550"/>
          </a:xfrm>
          <a:prstGeom xmlns:a="http://schemas.openxmlformats.org/drawingml/2006/main" prst="roundRect">
            <a:avLst>
              <a:gd name="adj" fmla="val 15493"/>
            </a:avLst>
          </a:prstGeom>
          <a:solidFill xmlns:a="http://schemas.openxmlformats.org/drawingml/2006/main">
            <a:srgbClr val="20294A"/>
          </a:solidFill>
          <a:ln xmlns:a="http://schemas.openxmlformats.org/drawingml/2006/main" w="9525">
            <a:solidFill>
              <a:srgbClr val="3A46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02DD3-A71F-48C2-AF6A-B6CCE391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153400"/>
            <a:ext cx="822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Which input should I add first: CSV, Excel, or PDF?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A3C9B-E184-4DB2-9677-73510808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964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EB8D5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AEB8D5"/>
                </a:solidFill>
                <a:latin typeface="Nimbus Sans"/>
                <a:ea typeface="Nimbus Sans"/>
                <a:cs typeface="Nimbus Sans"/>
              </a:rPr>
              <a:t>Full code and notebook on GitHub. Link in the post.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758A4-42E1-4B88-AA1B-7D0335C5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6964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AEB8D5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AEB8D5"/>
                </a:solidFill>
                <a:latin typeface="Nimbus Sans"/>
                <a:ea typeface="Nimbus Sans"/>
                <a:cs typeface="Nimbus Sans"/>
              </a:rPr>
              <a:t>6 / 6</a:t>
            </a:r>
          </a:p>
        </p:txBody>
      </p:sp>
    </p:spTree>
    <p:extLst>
      <p:ext uri="{BB962C8B-B14F-4D97-AF65-F5344CB8AC3E}">
        <p14:creationId xmlns:p14="http://schemas.microsoft.com/office/powerpoint/2010/main" val="936248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97136" dir="4721404">
              <a:srgbClr val="11162B">
                <a:alpha val="14000"/>
              </a:srgbClr>
            </a:outerShdw>
          </a:effectLst>
        </a:effectStyle>
        <a:effectStyle>
          <a:effectLst>
            <a:outerShdw blurRad="190500" dist="78545" dir="4557825">
              <a:srgbClr val="11162B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2026-09-12T08:50:11.0540000Z</dcterms:created>
  <dcterms:modified xsi:type="dcterms:W3CDTF">2026-09-12T08:50:11.0540000Z</dcterms:modified>
</coreProperties>
</file>